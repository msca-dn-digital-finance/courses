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1626" r:id="rId2"/>
    <p:sldId id="1646" r:id="rId3"/>
    <p:sldId id="1710" r:id="rId4"/>
    <p:sldId id="1715" r:id="rId5"/>
    <p:sldId id="1716" r:id="rId6"/>
    <p:sldId id="1713" r:id="rId7"/>
    <p:sldId id="1711" r:id="rId8"/>
    <p:sldId id="1721" r:id="rId9"/>
    <p:sldId id="1717" r:id="rId10"/>
    <p:sldId id="1718" r:id="rId11"/>
    <p:sldId id="1712" r:id="rId12"/>
    <p:sldId id="1719" r:id="rId13"/>
    <p:sldId id="1722"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025B9-8FD8-4DB1-A10F-D027C61B707B}" type="datetimeFigureOut">
              <a:rPr lang="de-CH" smtClean="0"/>
              <a:t>18.12.2025</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61D93-A63E-4519-905A-E7B03192AE3C}" type="slidenum">
              <a:rPr lang="de-CH" smtClean="0"/>
              <a:t>‹Nr.›</a:t>
            </a:fld>
            <a:endParaRPr lang="de-CH"/>
          </a:p>
        </p:txBody>
      </p:sp>
    </p:spTree>
    <p:extLst>
      <p:ext uri="{BB962C8B-B14F-4D97-AF65-F5344CB8AC3E}">
        <p14:creationId xmlns:p14="http://schemas.microsoft.com/office/powerpoint/2010/main" val="2727973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800" b="1" i="0" u="none" strike="noStrike" dirty="0">
                <a:effectLst/>
                <a:latin typeface="Times New Roman" panose="02020603050405020304" pitchFamily="18" charset="0"/>
              </a:rPr>
              <a:t> $    164.000  </a:t>
            </a:r>
          </a:p>
          <a:p>
            <a:r>
              <a:rPr lang="de-DE" sz="1800" b="1" i="0" u="none" strike="noStrike" dirty="0">
                <a:effectLst/>
                <a:latin typeface="Times New Roman" panose="02020603050405020304" pitchFamily="18" charset="0"/>
              </a:rPr>
              <a:t>$   (100.000)</a:t>
            </a:r>
            <a:r>
              <a:rPr lang="de-DE" dirty="0"/>
              <a:t> </a:t>
            </a:r>
            <a:r>
              <a:rPr lang="de-DE" sz="1800" b="1" i="0" u="none" strike="noStrike" dirty="0">
                <a:effectLst/>
                <a:latin typeface="Times New Roman" panose="02020603050405020304" pitchFamily="18" charset="0"/>
              </a:rPr>
              <a:t> </a:t>
            </a:r>
          </a:p>
          <a:p>
            <a:r>
              <a:rPr lang="de-DE" sz="1800" b="1" i="0" u="none" strike="noStrike" dirty="0">
                <a:effectLst/>
                <a:latin typeface="Times New Roman" panose="02020603050405020304" pitchFamily="18" charset="0"/>
              </a:rPr>
              <a:t>$    265.000 </a:t>
            </a:r>
          </a:p>
          <a:p>
            <a:r>
              <a:rPr lang="de-DE" sz="1800" b="1" i="0" u="none" strike="noStrike" dirty="0">
                <a:effectLst/>
                <a:latin typeface="Times New Roman" panose="02020603050405020304" pitchFamily="18" charset="0"/>
              </a:rPr>
              <a:t> $     (22.000)</a:t>
            </a:r>
            <a:r>
              <a:rPr lang="de-DE" dirty="0"/>
              <a:t> </a:t>
            </a:r>
            <a:endParaRPr lang="en-US" dirty="0"/>
          </a:p>
        </p:txBody>
      </p:sp>
      <p:sp>
        <p:nvSpPr>
          <p:cNvPr id="4" name="Foliennummernplatzhalter 3"/>
          <p:cNvSpPr>
            <a:spLocks noGrp="1"/>
          </p:cNvSpPr>
          <p:nvPr>
            <p:ph type="sldNum" sz="quarter" idx="5"/>
          </p:nvPr>
        </p:nvSpPr>
        <p:spPr/>
        <p:txBody>
          <a:bodyPr/>
          <a:lstStyle/>
          <a:p>
            <a:pPr>
              <a:defRPr/>
            </a:pPr>
            <a:fld id="{EE3A4D74-8AB3-4782-8193-8B0B8D7F57EA}" type="slidenum">
              <a:rPr lang="de-CH" smtClean="0"/>
              <a:pPr>
                <a:defRPr/>
              </a:pPr>
              <a:t>8</a:t>
            </a:fld>
            <a:endParaRPr lang="de-CH"/>
          </a:p>
        </p:txBody>
      </p:sp>
    </p:spTree>
    <p:extLst>
      <p:ext uri="{BB962C8B-B14F-4D97-AF65-F5344CB8AC3E}">
        <p14:creationId xmlns:p14="http://schemas.microsoft.com/office/powerpoint/2010/main" val="971017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pPr>
              <a:defRPr/>
            </a:pPr>
            <a:fld id="{EE3A4D74-8AB3-4782-8193-8B0B8D7F57EA}" type="slidenum">
              <a:rPr lang="de-CH" smtClean="0"/>
              <a:pPr>
                <a:defRPr/>
              </a:pPr>
              <a:t>12</a:t>
            </a:fld>
            <a:endParaRPr lang="de-CH"/>
          </a:p>
        </p:txBody>
      </p:sp>
    </p:spTree>
    <p:extLst>
      <p:ext uri="{BB962C8B-B14F-4D97-AF65-F5344CB8AC3E}">
        <p14:creationId xmlns:p14="http://schemas.microsoft.com/office/powerpoint/2010/main" val="132293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768D62-5161-33FE-9629-602B7B55890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B9A913D5-3228-E4FA-ADD4-0CC84C9CBB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3B404D51-BD9C-0B15-9B04-3A376D874DE5}"/>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CB870E7C-2E8D-4AD1-35A4-D77AF454A8CC}"/>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3D26F62-8DD9-6057-BC5E-A8C3749330B4}"/>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88570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E885BC-7E7B-1360-DF38-D07F7F255FBE}"/>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35336529-D130-8AC5-D14F-D0BD7ECD1CF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8BEC6DAE-E597-9E0D-8D09-EA20EF8FF86B}"/>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547D1C4C-55E4-A387-D339-EEEF20266863}"/>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E8EFE0B4-D01D-8C39-31EF-187E245A003B}"/>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488587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097E1C-7691-D462-DE84-354A2A4601A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F544514B-8272-AA32-AB53-23F8697BE5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B4444F0D-1DFA-8E4C-2FD6-6A88BED0CA57}"/>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38B2F323-AEE7-EB94-95EC-F4B29D17BE05}"/>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D11EFFE-03DD-4123-8F6E-0D5428306291}"/>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320355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20D759-C661-D9DB-6107-72C135D5721E}"/>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7F12B1B1-ADF4-13D8-33A5-2D11B8F6C22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B075F6F4-1D47-2FD2-3BBD-2563D47C5B8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DC9C1171-E888-CEF3-0EB4-1DD6C64AF8D3}"/>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6" name="Fußzeilenplatzhalter 5">
            <a:extLst>
              <a:ext uri="{FF2B5EF4-FFF2-40B4-BE49-F238E27FC236}">
                <a16:creationId xmlns:a16="http://schemas.microsoft.com/office/drawing/2014/main" id="{23AB8F7B-9200-C350-B103-0E798831BF97}"/>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43569C35-0562-C3D1-7C2A-12A892710569}"/>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2587174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881BE5-85BE-06E4-3928-2375C156F839}"/>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A58AC633-EBBB-03D8-DF55-DD7F5D38BE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E58866F-D8E6-FF87-E3A6-099AAE14802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CFDCEB0C-EC67-409F-FE47-DC46CC959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23CD789-7F38-2B1A-AB96-A2D2CE5D84E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7EC883AB-F404-A49F-36D9-CE5B8E918CE6}"/>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8" name="Fußzeilenplatzhalter 7">
            <a:extLst>
              <a:ext uri="{FF2B5EF4-FFF2-40B4-BE49-F238E27FC236}">
                <a16:creationId xmlns:a16="http://schemas.microsoft.com/office/drawing/2014/main" id="{130044E5-DB0D-11B5-17DC-D97CECBB8439}"/>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435DF865-F45B-8C08-8B33-55AF8581EF08}"/>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981277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F8D85-E0A1-411F-9933-46FC0FF04815}"/>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6F84AF10-C5D6-AAE0-7B1A-C8A391AD3FDE}"/>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4" name="Fußzeilenplatzhalter 3">
            <a:extLst>
              <a:ext uri="{FF2B5EF4-FFF2-40B4-BE49-F238E27FC236}">
                <a16:creationId xmlns:a16="http://schemas.microsoft.com/office/drawing/2014/main" id="{F7F68567-52D1-43BB-D5AE-4263BA74DEF5}"/>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9921A327-2718-FD4D-F34B-3FB551EA64D9}"/>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3620063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436CEE-BDA2-0F52-6494-98D70361E447}"/>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3" name="Fußzeilenplatzhalter 2">
            <a:extLst>
              <a:ext uri="{FF2B5EF4-FFF2-40B4-BE49-F238E27FC236}">
                <a16:creationId xmlns:a16="http://schemas.microsoft.com/office/drawing/2014/main" id="{A8735E1C-BDD7-D967-D03B-FFE8D4B6FE8A}"/>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89848267-8BB6-D679-30F5-A65DADADFE64}"/>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1022349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913B9B-2BB2-65A6-0887-A701C8727D0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F42EA94E-6710-0FC0-0C57-54FBE32FB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1AB72B5A-FE85-E8AA-F370-797AD86AF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E8881B6-2CC9-9393-0DC7-25F24D135E2C}"/>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6" name="Fußzeilenplatzhalter 5">
            <a:extLst>
              <a:ext uri="{FF2B5EF4-FFF2-40B4-BE49-F238E27FC236}">
                <a16:creationId xmlns:a16="http://schemas.microsoft.com/office/drawing/2014/main" id="{1AC26979-AD1E-226E-31C3-7CEA5193FE92}"/>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03B717C5-E953-9FF3-D3C5-5ABECAC2C52B}"/>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3149497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D8129-68C4-8340-F12C-B408B70ABA5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93411704-E6AF-28DC-D2BE-ACECF47E27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810FFE65-7044-132A-54F8-EF5CEA85C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66DA60C-F1BA-CC36-60E5-1AACD968D4FB}"/>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6" name="Fußzeilenplatzhalter 5">
            <a:extLst>
              <a:ext uri="{FF2B5EF4-FFF2-40B4-BE49-F238E27FC236}">
                <a16:creationId xmlns:a16="http://schemas.microsoft.com/office/drawing/2014/main" id="{41BAF46B-66D3-18AE-460E-646DFD155FB5}"/>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AECBA181-A191-73A3-CD13-E71A68F30C33}"/>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176988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95989C-5076-D5B5-7FE1-C4FED14C1768}"/>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69D82A38-C48F-DFFD-E6CA-D5F4E4581CAE}"/>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7DDF80F4-1C0F-9710-A526-5572A8E6E86A}"/>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FF454C71-B46F-2D12-7D27-FB2A3C99AB7E}"/>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9A8BC297-35F2-FF04-EEF8-601141D3D9AC}"/>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1518995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9E1A357-9886-4F9F-C2E8-B834FC13E92C}"/>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060F9C74-737D-8417-A677-E359AE82E6F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B638002-5E6E-8622-68B2-D9AB463C0295}"/>
              </a:ext>
            </a:extLst>
          </p:cNvPr>
          <p:cNvSpPr>
            <a:spLocks noGrp="1"/>
          </p:cNvSpPr>
          <p:nvPr>
            <p:ph type="dt" sz="half" idx="10"/>
          </p:nvPr>
        </p:nvSpPr>
        <p:spPr/>
        <p:txBody>
          <a:body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386ECFBF-23E1-C962-C733-1492CB0D2E2B}"/>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AD562C14-29EE-A991-A6B1-2DCCD8A86D3C}"/>
              </a:ext>
            </a:extLst>
          </p:cNvPr>
          <p:cNvSpPr>
            <a:spLocks noGrp="1"/>
          </p:cNvSpPr>
          <p:nvPr>
            <p:ph type="sldNum" sz="quarter" idx="12"/>
          </p:nvPr>
        </p:nvSpPr>
        <p:spPr/>
        <p:txBody>
          <a:bodyPr/>
          <a:lstStyle/>
          <a:p>
            <a:fld id="{78CAA113-64B5-412F-9D43-0A29D94C4CAE}" type="slidenum">
              <a:rPr lang="de-CH" smtClean="0"/>
              <a:t>‹Nr.›</a:t>
            </a:fld>
            <a:endParaRPr lang="de-CH"/>
          </a:p>
        </p:txBody>
      </p:sp>
    </p:spTree>
    <p:extLst>
      <p:ext uri="{BB962C8B-B14F-4D97-AF65-F5344CB8AC3E}">
        <p14:creationId xmlns:p14="http://schemas.microsoft.com/office/powerpoint/2010/main" val="3908684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Kapiteltrennseite (Grau)">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143027F-7246-4F86-A6AD-7473302EFCE0}"/>
              </a:ext>
            </a:extLst>
          </p:cNvPr>
          <p:cNvSpPr/>
          <p:nvPr userDrawn="1"/>
        </p:nvSpPr>
        <p:spPr>
          <a:xfrm>
            <a:off x="0" y="1"/>
            <a:ext cx="12192000" cy="44497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rgbClr val="4B647D"/>
              </a:solidFill>
            </a:endParaRPr>
          </a:p>
        </p:txBody>
      </p:sp>
      <p:sp>
        <p:nvSpPr>
          <p:cNvPr id="12" name="Untertitel 2"/>
          <p:cNvSpPr>
            <a:spLocks noGrp="1"/>
          </p:cNvSpPr>
          <p:nvPr>
            <p:ph type="subTitle" idx="1"/>
          </p:nvPr>
        </p:nvSpPr>
        <p:spPr>
          <a:xfrm>
            <a:off x="450263" y="2483773"/>
            <a:ext cx="9045854" cy="736710"/>
          </a:xfrm>
          <a:prstGeom prst="rect">
            <a:avLst/>
          </a:prstGeom>
        </p:spPr>
        <p:txBody>
          <a:bodyPr lIns="0"/>
          <a:lstStyle>
            <a:lvl1pPr marL="0" indent="0" algn="l">
              <a:buNone/>
              <a:defRPr sz="1997">
                <a:solidFill>
                  <a:schemeClr val="bg1"/>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450264" y="1877496"/>
            <a:ext cx="11291472" cy="514636"/>
          </a:xfrm>
        </p:spPr>
        <p:txBody>
          <a:bodyPr/>
          <a:lstStyle>
            <a:lvl1pPr>
              <a:defRPr>
                <a:solidFill>
                  <a:schemeClr val="bg1"/>
                </a:solidFill>
              </a:defRPr>
            </a:lvl1pPr>
          </a:lstStyle>
          <a:p>
            <a:r>
              <a:rPr lang="de-DE"/>
              <a:t>Mastertitelformat bearbeiten</a:t>
            </a:r>
            <a:endParaRPr lang="de-CH"/>
          </a:p>
        </p:txBody>
      </p:sp>
      <p:sp>
        <p:nvSpPr>
          <p:cNvPr id="10" name="Abgerundetes Rechteck 6">
            <a:extLst>
              <a:ext uri="{FF2B5EF4-FFF2-40B4-BE49-F238E27FC236}">
                <a16:creationId xmlns:a16="http://schemas.microsoft.com/office/drawing/2014/main" id="{6155990B-78C7-4DA0-B1E7-76D1A83E0123}"/>
              </a:ext>
            </a:extLst>
          </p:cNvPr>
          <p:cNvSpPr/>
          <p:nvPr userDrawn="1"/>
        </p:nvSpPr>
        <p:spPr>
          <a:xfrm>
            <a:off x="0" y="4449764"/>
            <a:ext cx="12191364" cy="122237"/>
          </a:xfrm>
          <a:prstGeom prst="rect">
            <a:avLst/>
          </a:prstGeom>
          <a:solidFill>
            <a:srgbClr val="FAC3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sz="1798">
              <a:solidFill>
                <a:srgbClr val="E78E23"/>
              </a:solidFill>
            </a:endParaRPr>
          </a:p>
        </p:txBody>
      </p:sp>
      <p:sp>
        <p:nvSpPr>
          <p:cNvPr id="3" name="Foliennummernplatzhalter 2">
            <a:extLst>
              <a:ext uri="{FF2B5EF4-FFF2-40B4-BE49-F238E27FC236}">
                <a16:creationId xmlns:a16="http://schemas.microsoft.com/office/drawing/2014/main" id="{15E32F2A-681B-4A65-A2CF-F3289104E9F3}"/>
              </a:ext>
            </a:extLst>
          </p:cNvPr>
          <p:cNvSpPr>
            <a:spLocks noGrp="1"/>
          </p:cNvSpPr>
          <p:nvPr>
            <p:ph type="sldNum" sz="quarter" idx="10"/>
          </p:nvPr>
        </p:nvSpPr>
        <p:spPr/>
        <p:txBody>
          <a:bodyPr/>
          <a:lstStyle>
            <a:lvl1pPr>
              <a:defRPr>
                <a:solidFill>
                  <a:srgbClr val="4B647D"/>
                </a:solidFill>
              </a:defRPr>
            </a:lvl1pPr>
          </a:lstStyle>
          <a:p>
            <a:pPr>
              <a:defRPr/>
            </a:pPr>
            <a:fld id="{B7BACB64-ACD3-4495-9A64-936FBCA468A7}" type="slidenum">
              <a:rPr lang="de-CH" smtClean="0"/>
              <a:pPr>
                <a:defRPr/>
              </a:pPr>
              <a:t>‹Nr.›</a:t>
            </a:fld>
            <a:endParaRPr lang="de-CH"/>
          </a:p>
        </p:txBody>
      </p:sp>
      <p:sp>
        <p:nvSpPr>
          <p:cNvPr id="5" name="Textfeld 15">
            <a:extLst>
              <a:ext uri="{FF2B5EF4-FFF2-40B4-BE49-F238E27FC236}">
                <a16:creationId xmlns:a16="http://schemas.microsoft.com/office/drawing/2014/main" id="{3455541A-D1CF-4483-A637-480F287F7481}"/>
              </a:ext>
            </a:extLst>
          </p:cNvPr>
          <p:cNvSpPr txBox="1">
            <a:spLocks noChangeArrowheads="1"/>
          </p:cNvSpPr>
          <p:nvPr userDrawn="1"/>
        </p:nvSpPr>
        <p:spPr bwMode="auto">
          <a:xfrm>
            <a:off x="456605" y="6300789"/>
            <a:ext cx="89180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647700" eaLnBrk="0" hangingPunct="0">
              <a:defRPr sz="2400">
                <a:solidFill>
                  <a:schemeClr val="tx1"/>
                </a:solidFill>
                <a:latin typeface="Calibri" pitchFamily="34" charset="0"/>
                <a:ea typeface="MS PGothic" pitchFamily="34" charset="-128"/>
              </a:defRPr>
            </a:lvl1pPr>
            <a:lvl2pPr marL="742950" indent="-285750" defTabSz="647700" eaLnBrk="0" hangingPunct="0">
              <a:defRPr sz="2400">
                <a:solidFill>
                  <a:schemeClr val="tx1"/>
                </a:solidFill>
                <a:latin typeface="Calibri" pitchFamily="34" charset="0"/>
                <a:ea typeface="MS PGothic" pitchFamily="34" charset="-128"/>
              </a:defRPr>
            </a:lvl2pPr>
            <a:lvl3pPr marL="1143000" indent="-228600" defTabSz="647700" eaLnBrk="0" hangingPunct="0">
              <a:defRPr sz="2400">
                <a:solidFill>
                  <a:schemeClr val="tx1"/>
                </a:solidFill>
                <a:latin typeface="Calibri" pitchFamily="34" charset="0"/>
                <a:ea typeface="MS PGothic" pitchFamily="34" charset="-128"/>
              </a:defRPr>
            </a:lvl3pPr>
            <a:lvl4pPr marL="1600200" indent="-228600" defTabSz="647700" eaLnBrk="0" hangingPunct="0">
              <a:defRPr sz="2400">
                <a:solidFill>
                  <a:schemeClr val="tx1"/>
                </a:solidFill>
                <a:latin typeface="Calibri" pitchFamily="34" charset="0"/>
                <a:ea typeface="MS PGothic" pitchFamily="34" charset="-128"/>
              </a:defRPr>
            </a:lvl4pPr>
            <a:lvl5pPr marL="2057400" indent="-228600" defTabSz="647700" eaLnBrk="0" hangingPunct="0">
              <a:defRPr sz="2400">
                <a:solidFill>
                  <a:schemeClr val="tx1"/>
                </a:solidFill>
                <a:latin typeface="Calibri" pitchFamily="34" charset="0"/>
                <a:ea typeface="MS PGothic" pitchFamily="34" charset="-128"/>
              </a:defRPr>
            </a:lvl5pPr>
            <a:lvl6pPr marL="25146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r>
              <a:rPr lang="de-DE" sz="1398">
                <a:solidFill>
                  <a:schemeClr val="tx2"/>
                </a:solidFill>
                <a:latin typeface="Lucida Sans" pitchFamily="34" charset="0"/>
              </a:rPr>
              <a:t>Berner Fachhochschule | Haute </a:t>
            </a:r>
            <a:r>
              <a:rPr lang="de-DE" sz="1398" err="1">
                <a:solidFill>
                  <a:schemeClr val="tx2"/>
                </a:solidFill>
                <a:latin typeface="Lucida Sans" pitchFamily="34" charset="0"/>
              </a:rPr>
              <a:t>école</a:t>
            </a:r>
            <a:r>
              <a:rPr lang="de-DE" sz="1398">
                <a:solidFill>
                  <a:schemeClr val="tx2"/>
                </a:solidFill>
                <a:latin typeface="Lucida Sans" pitchFamily="34" charset="0"/>
              </a:rPr>
              <a:t> </a:t>
            </a:r>
            <a:r>
              <a:rPr lang="de-DE" sz="1398" err="1">
                <a:solidFill>
                  <a:schemeClr val="tx2"/>
                </a:solidFill>
                <a:latin typeface="Lucida Sans" pitchFamily="34" charset="0"/>
              </a:rPr>
              <a:t>spécialisée</a:t>
            </a:r>
            <a:r>
              <a:rPr lang="de-DE" sz="1398">
                <a:solidFill>
                  <a:schemeClr val="tx2"/>
                </a:solidFill>
                <a:latin typeface="Lucida Sans" pitchFamily="34" charset="0"/>
              </a:rPr>
              <a:t> </a:t>
            </a:r>
            <a:r>
              <a:rPr lang="de-DE" sz="1398" err="1">
                <a:solidFill>
                  <a:schemeClr val="tx2"/>
                </a:solidFill>
                <a:latin typeface="Lucida Sans" pitchFamily="34" charset="0"/>
              </a:rPr>
              <a:t>bernoise</a:t>
            </a:r>
            <a:r>
              <a:rPr lang="de-DE" sz="1398">
                <a:solidFill>
                  <a:schemeClr val="tx2"/>
                </a:solidFill>
                <a:latin typeface="Lucida Sans" pitchFamily="34" charset="0"/>
              </a:rPr>
              <a:t> | Bern University </a:t>
            </a:r>
            <a:r>
              <a:rPr lang="de-DE" sz="1398" err="1">
                <a:solidFill>
                  <a:schemeClr val="tx2"/>
                </a:solidFill>
                <a:latin typeface="Lucida Sans" pitchFamily="34" charset="0"/>
              </a:rPr>
              <a:t>of</a:t>
            </a:r>
            <a:r>
              <a:rPr lang="de-DE" sz="1398">
                <a:solidFill>
                  <a:schemeClr val="tx2"/>
                </a:solidFill>
                <a:latin typeface="Lucida Sans" pitchFamily="34" charset="0"/>
              </a:rPr>
              <a:t> Applied </a:t>
            </a:r>
            <a:r>
              <a:rPr lang="de-DE" sz="1398" err="1">
                <a:solidFill>
                  <a:schemeClr val="tx2"/>
                </a:solidFill>
                <a:latin typeface="Lucida Sans" pitchFamily="34" charset="0"/>
              </a:rPr>
              <a:t>Sciences</a:t>
            </a:r>
            <a:endParaRPr lang="de-DE" sz="1398">
              <a:solidFill>
                <a:schemeClr val="tx2"/>
              </a:solidFill>
              <a:latin typeface="Lucida Sans" pitchFamily="34" charset="0"/>
            </a:endParaRPr>
          </a:p>
        </p:txBody>
      </p:sp>
    </p:spTree>
    <p:extLst>
      <p:ext uri="{BB962C8B-B14F-4D97-AF65-F5344CB8AC3E}">
        <p14:creationId xmlns:p14="http://schemas.microsoft.com/office/powerpoint/2010/main" val="1996360543"/>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F219A12-8EFD-7C03-0E03-F109B6DCF7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38E608A5-B632-FF00-0C50-E4A5D3F7BD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9D99F586-7CA2-EADE-FE8B-3C521F7F3A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3B469C-9E8B-48A1-A051-BE7E9C56F110}" type="datetimeFigureOut">
              <a:rPr lang="de-CH" smtClean="0"/>
              <a:t>18.12.2025</a:t>
            </a:fld>
            <a:endParaRPr lang="de-CH"/>
          </a:p>
        </p:txBody>
      </p:sp>
      <p:sp>
        <p:nvSpPr>
          <p:cNvPr id="5" name="Fußzeilenplatzhalter 4">
            <a:extLst>
              <a:ext uri="{FF2B5EF4-FFF2-40B4-BE49-F238E27FC236}">
                <a16:creationId xmlns:a16="http://schemas.microsoft.com/office/drawing/2014/main" id="{0EA45419-F737-62D4-C4B2-770845B043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A363EC92-0BBA-CA76-7AC6-5CE8D645A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CAA113-64B5-412F-9D43-0A29D94C4CAE}" type="slidenum">
              <a:rPr lang="de-CH" smtClean="0"/>
              <a:t>‹Nr.›</a:t>
            </a:fld>
            <a:endParaRPr lang="de-CH"/>
          </a:p>
        </p:txBody>
      </p:sp>
    </p:spTree>
    <p:extLst>
      <p:ext uri="{BB962C8B-B14F-4D97-AF65-F5344CB8AC3E}">
        <p14:creationId xmlns:p14="http://schemas.microsoft.com/office/powerpoint/2010/main" val="1869145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a:extLst>
              <a:ext uri="{FF2B5EF4-FFF2-40B4-BE49-F238E27FC236}">
                <a16:creationId xmlns:a16="http://schemas.microsoft.com/office/drawing/2014/main" id="{CF63F472-DB9F-435F-9DF6-629BB6EAFFD8}"/>
              </a:ext>
            </a:extLst>
          </p:cNvPr>
          <p:cNvSpPr>
            <a:spLocks noGrp="1"/>
          </p:cNvSpPr>
          <p:nvPr>
            <p:ph type="subTitle" idx="1"/>
          </p:nvPr>
        </p:nvSpPr>
        <p:spPr/>
        <p:txBody>
          <a:bodyPr/>
          <a:lstStyle/>
          <a:p>
            <a:r>
              <a:rPr lang="de-DE" dirty="0"/>
              <a:t>Financing Ventures</a:t>
            </a:r>
            <a:endParaRPr lang="de-CH" dirty="0"/>
          </a:p>
        </p:txBody>
      </p:sp>
      <p:sp>
        <p:nvSpPr>
          <p:cNvPr id="3" name="Titel 2">
            <a:extLst>
              <a:ext uri="{FF2B5EF4-FFF2-40B4-BE49-F238E27FC236}">
                <a16:creationId xmlns:a16="http://schemas.microsoft.com/office/drawing/2014/main" id="{A619ED67-DF31-4B7C-9B5D-B837B792A4BB}"/>
              </a:ext>
            </a:extLst>
          </p:cNvPr>
          <p:cNvSpPr>
            <a:spLocks noGrp="1"/>
          </p:cNvSpPr>
          <p:nvPr>
            <p:ph type="title"/>
          </p:nvPr>
        </p:nvSpPr>
        <p:spPr/>
        <p:txBody>
          <a:bodyPr>
            <a:normAutofit fontScale="90000"/>
          </a:bodyPr>
          <a:lstStyle/>
          <a:p>
            <a:r>
              <a:rPr lang="de-DE" dirty="0" err="1"/>
              <a:t>Entrepreneurial</a:t>
            </a:r>
            <a:r>
              <a:rPr lang="de-DE" dirty="0"/>
              <a:t> Finance</a:t>
            </a:r>
            <a:endParaRPr lang="de-CH" dirty="0"/>
          </a:p>
        </p:txBody>
      </p:sp>
    </p:spTree>
    <p:extLst>
      <p:ext uri="{BB962C8B-B14F-4D97-AF65-F5344CB8AC3E}">
        <p14:creationId xmlns:p14="http://schemas.microsoft.com/office/powerpoint/2010/main" val="338606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EB2836A3-23F1-4AEA-870D-0DA208499DC7}"/>
              </a:ext>
            </a:extLst>
          </p:cNvPr>
          <p:cNvSpPr>
            <a:spLocks noGrp="1"/>
          </p:cNvSpPr>
          <p:nvPr>
            <p:ph type="title"/>
          </p:nvPr>
        </p:nvSpPr>
        <p:spPr/>
        <p:txBody>
          <a:bodyPr/>
          <a:lstStyle/>
          <a:p>
            <a:r>
              <a:rPr lang="de-AT" altLang="de-DE" dirty="0"/>
              <a:t>Problems </a:t>
            </a:r>
            <a:r>
              <a:rPr lang="de-AT" altLang="de-DE" dirty="0" err="1"/>
              <a:t>when</a:t>
            </a:r>
            <a:r>
              <a:rPr lang="de-AT" altLang="de-DE" dirty="0"/>
              <a:t> </a:t>
            </a:r>
            <a:r>
              <a:rPr lang="de-AT" altLang="de-DE" dirty="0" err="1"/>
              <a:t>financing</a:t>
            </a:r>
            <a:r>
              <a:rPr lang="de-AT" altLang="de-DE" dirty="0"/>
              <a:t> Start-Ups</a:t>
            </a:r>
          </a:p>
        </p:txBody>
      </p:sp>
      <p:sp>
        <p:nvSpPr>
          <p:cNvPr id="3" name="Inhaltsplatzhalter 2">
            <a:extLst>
              <a:ext uri="{FF2B5EF4-FFF2-40B4-BE49-F238E27FC236}">
                <a16:creationId xmlns:a16="http://schemas.microsoft.com/office/drawing/2014/main" id="{003BF4B8-ED33-4283-A002-13075C1D9EDD}"/>
              </a:ext>
            </a:extLst>
          </p:cNvPr>
          <p:cNvSpPr>
            <a:spLocks noGrp="1"/>
          </p:cNvSpPr>
          <p:nvPr>
            <p:ph idx="1"/>
          </p:nvPr>
        </p:nvSpPr>
        <p:spPr/>
        <p:txBody>
          <a:bodyPr/>
          <a:lstStyle/>
          <a:p>
            <a:pPr>
              <a:lnSpc>
                <a:spcPct val="150000"/>
              </a:lnSpc>
              <a:spcBef>
                <a:spcPct val="0"/>
              </a:spcBef>
            </a:pPr>
            <a:r>
              <a:rPr lang="en-US" altLang="de-DE" sz="1798" dirty="0"/>
              <a:t> No comparative information</a:t>
            </a:r>
          </a:p>
          <a:p>
            <a:pPr>
              <a:lnSpc>
                <a:spcPct val="150000"/>
              </a:lnSpc>
              <a:spcBef>
                <a:spcPct val="0"/>
              </a:spcBef>
            </a:pPr>
            <a:r>
              <a:rPr lang="en-US" altLang="de-DE" sz="1798" dirty="0"/>
              <a:t> Management and their skills unknown</a:t>
            </a:r>
          </a:p>
          <a:p>
            <a:pPr>
              <a:lnSpc>
                <a:spcPct val="150000"/>
              </a:lnSpc>
              <a:spcBef>
                <a:spcPct val="0"/>
              </a:spcBef>
            </a:pPr>
            <a:r>
              <a:rPr lang="en-US" altLang="de-DE" sz="1798" b="1" dirty="0"/>
              <a:t> Asymmetric information</a:t>
            </a:r>
          </a:p>
          <a:p>
            <a:pPr lvl="1">
              <a:lnSpc>
                <a:spcPct val="150000"/>
              </a:lnSpc>
              <a:spcBef>
                <a:spcPct val="0"/>
              </a:spcBef>
            </a:pPr>
            <a:r>
              <a:rPr lang="en-US" altLang="de-DE" sz="1798" dirty="0"/>
              <a:t> Forecasts</a:t>
            </a:r>
          </a:p>
          <a:p>
            <a:pPr lvl="1">
              <a:lnSpc>
                <a:spcPct val="150000"/>
              </a:lnSpc>
              <a:spcBef>
                <a:spcPct val="0"/>
              </a:spcBef>
            </a:pPr>
            <a:r>
              <a:rPr lang="en-US" altLang="de-DE" sz="1798" dirty="0"/>
              <a:t> Financials</a:t>
            </a:r>
          </a:p>
          <a:p>
            <a:pPr lvl="1">
              <a:lnSpc>
                <a:spcPct val="150000"/>
              </a:lnSpc>
              <a:spcBef>
                <a:spcPct val="0"/>
              </a:spcBef>
            </a:pPr>
            <a:r>
              <a:rPr lang="en-US" altLang="de-DE" sz="1798" dirty="0"/>
              <a:t> Often no track records</a:t>
            </a:r>
          </a:p>
          <a:p>
            <a:pPr lvl="1">
              <a:lnSpc>
                <a:spcPct val="150000"/>
              </a:lnSpc>
              <a:spcBef>
                <a:spcPct val="0"/>
              </a:spcBef>
            </a:pPr>
            <a:r>
              <a:rPr lang="en-US" altLang="de-DE" sz="1798" dirty="0"/>
              <a:t> Valuing intellectual property is difficult</a:t>
            </a:r>
          </a:p>
          <a:p>
            <a:pPr lvl="1">
              <a:lnSpc>
                <a:spcPct val="150000"/>
              </a:lnSpc>
              <a:spcBef>
                <a:spcPct val="0"/>
              </a:spcBef>
            </a:pPr>
            <a:r>
              <a:rPr lang="en-US" altLang="de-DE" sz="1798" dirty="0"/>
              <a:t> No comparative information</a:t>
            </a:r>
            <a:endParaRPr lang="en-US" altLang="de-DE" sz="799" dirty="0"/>
          </a:p>
          <a:p>
            <a:pPr>
              <a:lnSpc>
                <a:spcPct val="150000"/>
              </a:lnSpc>
              <a:spcBef>
                <a:spcPct val="0"/>
              </a:spcBef>
            </a:pPr>
            <a:r>
              <a:rPr lang="en-US" altLang="de-DE" sz="1798" dirty="0"/>
              <a:t> No business skills</a:t>
            </a:r>
          </a:p>
          <a:p>
            <a:pPr>
              <a:lnSpc>
                <a:spcPct val="150000"/>
              </a:lnSpc>
              <a:spcBef>
                <a:spcPct val="0"/>
              </a:spcBef>
            </a:pPr>
            <a:r>
              <a:rPr lang="en-US" altLang="de-DE" sz="1798" b="1" dirty="0"/>
              <a:t>“Reliability of Newness”</a:t>
            </a:r>
            <a:endParaRPr lang="en-US" altLang="de-DE" sz="899" b="1" dirty="0"/>
          </a:p>
          <a:p>
            <a:pPr>
              <a:lnSpc>
                <a:spcPct val="150000"/>
              </a:lnSpc>
              <a:spcBef>
                <a:spcPct val="0"/>
              </a:spcBef>
            </a:pPr>
            <a:endParaRPr lang="en-US" altLang="de-DE" sz="1798" dirty="0"/>
          </a:p>
          <a:p>
            <a:pPr>
              <a:lnSpc>
                <a:spcPct val="90000"/>
              </a:lnSpc>
            </a:pPr>
            <a:endParaRPr lang="en-GB" altLang="de-DE" sz="1798" dirty="0"/>
          </a:p>
          <a:p>
            <a:endParaRPr lang="de-AT" altLang="de-DE" sz="1798" dirty="0"/>
          </a:p>
        </p:txBody>
      </p:sp>
      <p:pic>
        <p:nvPicPr>
          <p:cNvPr id="5124" name="Picture 2">
            <a:extLst>
              <a:ext uri="{FF2B5EF4-FFF2-40B4-BE49-F238E27FC236}">
                <a16:creationId xmlns:a16="http://schemas.microsoft.com/office/drawing/2014/main" id="{3909FCC9-9D22-4501-B7CC-D1FDEE1F6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977" y="2093719"/>
            <a:ext cx="5838047" cy="439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2947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D60C6-3A42-F7C4-F3B8-EC078ADF093B}"/>
              </a:ext>
            </a:extLst>
          </p:cNvPr>
          <p:cNvSpPr>
            <a:spLocks noGrp="1"/>
          </p:cNvSpPr>
          <p:nvPr>
            <p:ph type="title"/>
          </p:nvPr>
        </p:nvSpPr>
        <p:spPr/>
        <p:txBody>
          <a:bodyPr/>
          <a:lstStyle/>
          <a:p>
            <a:r>
              <a:rPr lang="en-US" dirty="0"/>
              <a:t>The Pecking order theory: Sources of Capital</a:t>
            </a:r>
          </a:p>
        </p:txBody>
      </p:sp>
      <p:pic>
        <p:nvPicPr>
          <p:cNvPr id="1026" name="Picture 2" descr="Pecking Order Theory: How to Put Funding Sources In Order">
            <a:extLst>
              <a:ext uri="{FF2B5EF4-FFF2-40B4-BE49-F238E27FC236}">
                <a16:creationId xmlns:a16="http://schemas.microsoft.com/office/drawing/2014/main" id="{3401CC94-F4AD-6318-FA56-2F0AB5DB0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6355" y="1380579"/>
            <a:ext cx="8359290" cy="5224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725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321A46-5AB1-9E85-774E-EB7A803DC7E4}"/>
              </a:ext>
            </a:extLst>
          </p:cNvPr>
          <p:cNvSpPr>
            <a:spLocks noGrp="1"/>
          </p:cNvSpPr>
          <p:nvPr>
            <p:ph type="title"/>
          </p:nvPr>
        </p:nvSpPr>
        <p:spPr/>
        <p:txBody>
          <a:bodyPr/>
          <a:lstStyle/>
          <a:p>
            <a:r>
              <a:rPr lang="en-US" dirty="0"/>
              <a:t>What’s the signal of issuing debt or equity to an investor?</a:t>
            </a:r>
          </a:p>
        </p:txBody>
      </p:sp>
      <p:sp>
        <p:nvSpPr>
          <p:cNvPr id="3" name="Inhaltsplatzhalter 2">
            <a:extLst>
              <a:ext uri="{FF2B5EF4-FFF2-40B4-BE49-F238E27FC236}">
                <a16:creationId xmlns:a16="http://schemas.microsoft.com/office/drawing/2014/main" id="{7304C63B-3F98-D6DF-465C-793D8485413B}"/>
              </a:ext>
            </a:extLst>
          </p:cNvPr>
          <p:cNvSpPr>
            <a:spLocks noGrp="1"/>
          </p:cNvSpPr>
          <p:nvPr>
            <p:ph idx="1"/>
          </p:nvPr>
        </p:nvSpPr>
        <p:spPr/>
        <p:txBody>
          <a:bodyPr/>
          <a:lstStyle/>
          <a:p>
            <a:r>
              <a:rPr lang="en-US" dirty="0"/>
              <a:t>Imagine that you are in need of capital for your new business idea.</a:t>
            </a:r>
          </a:p>
          <a:p>
            <a:pPr lvl="1"/>
            <a:r>
              <a:rPr lang="en-US" dirty="0"/>
              <a:t>Would you rather offer debt or equity to an investor?</a:t>
            </a:r>
          </a:p>
          <a:p>
            <a:pPr lvl="1"/>
            <a:r>
              <a:rPr lang="en-US" dirty="0"/>
              <a:t>What does it depend on?</a:t>
            </a:r>
          </a:p>
          <a:p>
            <a:pPr lvl="1"/>
            <a:r>
              <a:rPr lang="en-US" dirty="0"/>
              <a:t>Why?</a:t>
            </a:r>
          </a:p>
          <a:p>
            <a:pPr lvl="1"/>
            <a:endParaRPr lang="en-US" dirty="0"/>
          </a:p>
          <a:p>
            <a:r>
              <a:rPr lang="en-US" dirty="0"/>
              <a:t>As an investor, would you rather give out a loan (debt) or buy shares of a new company?</a:t>
            </a:r>
          </a:p>
          <a:p>
            <a:pPr lvl="1"/>
            <a:r>
              <a:rPr lang="en-US" dirty="0"/>
              <a:t>What does it depend on?</a:t>
            </a:r>
          </a:p>
          <a:p>
            <a:pPr lvl="1"/>
            <a:r>
              <a:rPr lang="en-US" dirty="0"/>
              <a:t>Why?</a:t>
            </a:r>
          </a:p>
        </p:txBody>
      </p:sp>
    </p:spTree>
    <p:extLst>
      <p:ext uri="{BB962C8B-B14F-4D97-AF65-F5344CB8AC3E}">
        <p14:creationId xmlns:p14="http://schemas.microsoft.com/office/powerpoint/2010/main" val="421540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FE4CA9-AD13-5CAB-855E-A91E96D63050}"/>
              </a:ext>
            </a:extLst>
          </p:cNvPr>
          <p:cNvSpPr>
            <a:spLocks noGrp="1"/>
          </p:cNvSpPr>
          <p:nvPr>
            <p:ph type="title"/>
          </p:nvPr>
        </p:nvSpPr>
        <p:spPr/>
        <p:txBody>
          <a:bodyPr/>
          <a:lstStyle/>
          <a:p>
            <a:r>
              <a:rPr lang="en-US" dirty="0"/>
              <a:t>Let’s play a game…</a:t>
            </a:r>
          </a:p>
        </p:txBody>
      </p:sp>
      <p:sp>
        <p:nvSpPr>
          <p:cNvPr id="3" name="Inhaltsplatzhalter 2">
            <a:extLst>
              <a:ext uri="{FF2B5EF4-FFF2-40B4-BE49-F238E27FC236}">
                <a16:creationId xmlns:a16="http://schemas.microsoft.com/office/drawing/2014/main" id="{2DFA3A5D-9FA1-135D-D535-77C387D3AB4B}"/>
              </a:ext>
            </a:extLst>
          </p:cNvPr>
          <p:cNvSpPr>
            <a:spLocks noGrp="1"/>
          </p:cNvSpPr>
          <p:nvPr>
            <p:ph idx="1"/>
          </p:nvPr>
        </p:nvSpPr>
        <p:spPr/>
        <p:txBody>
          <a:bodyPr/>
          <a:lstStyle/>
          <a:p>
            <a:r>
              <a:rPr lang="en-US" dirty="0"/>
              <a:t>For this game, you are assigned either an </a:t>
            </a:r>
            <a:r>
              <a:rPr lang="en-US" b="1" dirty="0"/>
              <a:t>Investor</a:t>
            </a:r>
            <a:r>
              <a:rPr lang="en-US" dirty="0"/>
              <a:t> or an </a:t>
            </a:r>
            <a:r>
              <a:rPr lang="en-US" b="1" dirty="0"/>
              <a:t>Entrepreneur</a:t>
            </a:r>
          </a:p>
          <a:p>
            <a:r>
              <a:rPr lang="en-US" dirty="0"/>
              <a:t>Your Goal is to maximize your profit!</a:t>
            </a:r>
          </a:p>
        </p:txBody>
      </p:sp>
      <p:pic>
        <p:nvPicPr>
          <p:cNvPr id="5" name="Grafik 4">
            <a:extLst>
              <a:ext uri="{FF2B5EF4-FFF2-40B4-BE49-F238E27FC236}">
                <a16:creationId xmlns:a16="http://schemas.microsoft.com/office/drawing/2014/main" id="{482F4293-E5B2-FE69-6369-48802BA76C47}"/>
              </a:ext>
            </a:extLst>
          </p:cNvPr>
          <p:cNvPicPr>
            <a:picLocks noChangeAspect="1"/>
          </p:cNvPicPr>
          <p:nvPr/>
        </p:nvPicPr>
        <p:blipFill>
          <a:blip r:embed="rId2"/>
          <a:stretch>
            <a:fillRect/>
          </a:stretch>
        </p:blipFill>
        <p:spPr>
          <a:xfrm>
            <a:off x="3637476" y="2842064"/>
            <a:ext cx="5147042" cy="3149115"/>
          </a:xfrm>
          <a:prstGeom prst="rect">
            <a:avLst/>
          </a:prstGeom>
        </p:spPr>
      </p:pic>
    </p:spTree>
    <p:extLst>
      <p:ext uri="{BB962C8B-B14F-4D97-AF65-F5344CB8AC3E}">
        <p14:creationId xmlns:p14="http://schemas.microsoft.com/office/powerpoint/2010/main" val="3930011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2E1318-AE5F-08B3-7761-8700B7CCDF3C}"/>
              </a:ext>
            </a:extLst>
          </p:cNvPr>
          <p:cNvSpPr>
            <a:spLocks noGrp="1"/>
          </p:cNvSpPr>
          <p:nvPr>
            <p:ph type="title"/>
          </p:nvPr>
        </p:nvSpPr>
        <p:spPr/>
        <p:txBody>
          <a:bodyPr/>
          <a:lstStyle/>
          <a:p>
            <a:r>
              <a:rPr lang="en-US" dirty="0"/>
              <a:t>Decision in the presence of Asymmetric Information</a:t>
            </a:r>
          </a:p>
        </p:txBody>
      </p:sp>
      <p:pic>
        <p:nvPicPr>
          <p:cNvPr id="2050" name="Picture 2" descr="an entrepreneur negotiating with investors in an oil field">
            <a:extLst>
              <a:ext uri="{FF2B5EF4-FFF2-40B4-BE49-F238E27FC236}">
                <a16:creationId xmlns:a16="http://schemas.microsoft.com/office/drawing/2014/main" id="{9C7495A5-2F51-99F2-7E9F-CAD325503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189" y="1295742"/>
            <a:ext cx="4866548" cy="48665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 descr="A diagram of a company's company&#10;&#10;Description automatically generated">
            <a:extLst>
              <a:ext uri="{FF2B5EF4-FFF2-40B4-BE49-F238E27FC236}">
                <a16:creationId xmlns:a16="http://schemas.microsoft.com/office/drawing/2014/main" id="{7259B3A2-98FC-EFA0-1625-30EE9A25AFFC}"/>
              </a:ext>
            </a:extLst>
          </p:cNvPr>
          <p:cNvPicPr>
            <a:picLocks noChangeAspect="1"/>
          </p:cNvPicPr>
          <p:nvPr/>
        </p:nvPicPr>
        <p:blipFill>
          <a:blip r:embed="rId3"/>
          <a:stretch>
            <a:fillRect/>
          </a:stretch>
        </p:blipFill>
        <p:spPr>
          <a:xfrm>
            <a:off x="450264" y="1100313"/>
            <a:ext cx="6095964" cy="5061978"/>
          </a:xfrm>
          <a:prstGeom prst="rect">
            <a:avLst/>
          </a:prstGeom>
        </p:spPr>
      </p:pic>
      <p:sp>
        <p:nvSpPr>
          <p:cNvPr id="3" name="Rechteck 2">
            <a:extLst>
              <a:ext uri="{FF2B5EF4-FFF2-40B4-BE49-F238E27FC236}">
                <a16:creationId xmlns:a16="http://schemas.microsoft.com/office/drawing/2014/main" id="{BB449750-78D7-86D8-6E5A-95A543749824}"/>
              </a:ext>
            </a:extLst>
          </p:cNvPr>
          <p:cNvSpPr/>
          <p:nvPr/>
        </p:nvSpPr>
        <p:spPr>
          <a:xfrm>
            <a:off x="1643781" y="1810587"/>
            <a:ext cx="2989920" cy="7102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
        <p:nvSpPr>
          <p:cNvPr id="11" name="Rechteck 10">
            <a:extLst>
              <a:ext uri="{FF2B5EF4-FFF2-40B4-BE49-F238E27FC236}">
                <a16:creationId xmlns:a16="http://schemas.microsoft.com/office/drawing/2014/main" id="{FFB14749-6F74-3916-FE9E-2C033C297D3F}"/>
              </a:ext>
            </a:extLst>
          </p:cNvPr>
          <p:cNvSpPr/>
          <p:nvPr/>
        </p:nvSpPr>
        <p:spPr>
          <a:xfrm>
            <a:off x="216467" y="2520862"/>
            <a:ext cx="2881688" cy="129202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
        <p:nvSpPr>
          <p:cNvPr id="12" name="Rechteck 11">
            <a:extLst>
              <a:ext uri="{FF2B5EF4-FFF2-40B4-BE49-F238E27FC236}">
                <a16:creationId xmlns:a16="http://schemas.microsoft.com/office/drawing/2014/main" id="{B7416B69-C49A-80FA-D1ED-2EB67831AFC6}"/>
              </a:ext>
            </a:extLst>
          </p:cNvPr>
          <p:cNvSpPr/>
          <p:nvPr/>
        </p:nvSpPr>
        <p:spPr>
          <a:xfrm>
            <a:off x="236759" y="3812887"/>
            <a:ext cx="1860244" cy="234940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
        <p:nvSpPr>
          <p:cNvPr id="13" name="Rechteck 12">
            <a:extLst>
              <a:ext uri="{FF2B5EF4-FFF2-40B4-BE49-F238E27FC236}">
                <a16:creationId xmlns:a16="http://schemas.microsoft.com/office/drawing/2014/main" id="{01ECF4F4-2175-2023-C8E3-B813A76095E1}"/>
              </a:ext>
            </a:extLst>
          </p:cNvPr>
          <p:cNvSpPr/>
          <p:nvPr/>
        </p:nvSpPr>
        <p:spPr>
          <a:xfrm>
            <a:off x="3098154" y="2520860"/>
            <a:ext cx="2286415" cy="11432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
        <p:nvSpPr>
          <p:cNvPr id="14" name="Rechteck 13">
            <a:extLst>
              <a:ext uri="{FF2B5EF4-FFF2-40B4-BE49-F238E27FC236}">
                <a16:creationId xmlns:a16="http://schemas.microsoft.com/office/drawing/2014/main" id="{B5702D24-6D81-4EE7-ED35-63DD4367FD93}"/>
              </a:ext>
            </a:extLst>
          </p:cNvPr>
          <p:cNvSpPr/>
          <p:nvPr/>
        </p:nvSpPr>
        <p:spPr>
          <a:xfrm>
            <a:off x="2310509" y="3664067"/>
            <a:ext cx="2127021" cy="249822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
        <p:nvSpPr>
          <p:cNvPr id="15" name="Rechteck 14">
            <a:extLst>
              <a:ext uri="{FF2B5EF4-FFF2-40B4-BE49-F238E27FC236}">
                <a16:creationId xmlns:a16="http://schemas.microsoft.com/office/drawing/2014/main" id="{6E1B500D-0382-0731-0E0A-4596CF0EA0F8}"/>
              </a:ext>
            </a:extLst>
          </p:cNvPr>
          <p:cNvSpPr/>
          <p:nvPr/>
        </p:nvSpPr>
        <p:spPr>
          <a:xfrm>
            <a:off x="4437530" y="3664067"/>
            <a:ext cx="2127021" cy="249822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97" dirty="0" err="1"/>
          </a:p>
        </p:txBody>
      </p:sp>
    </p:spTree>
    <p:extLst>
      <p:ext uri="{BB962C8B-B14F-4D97-AF65-F5344CB8AC3E}">
        <p14:creationId xmlns:p14="http://schemas.microsoft.com/office/powerpoint/2010/main" val="358092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A57A0-3133-9E47-D7ED-614B82645677}"/>
              </a:ext>
            </a:extLst>
          </p:cNvPr>
          <p:cNvSpPr>
            <a:spLocks noGrp="1"/>
          </p:cNvSpPr>
          <p:nvPr>
            <p:ph type="title"/>
          </p:nvPr>
        </p:nvSpPr>
        <p:spPr/>
        <p:txBody>
          <a:bodyPr/>
          <a:lstStyle/>
          <a:p>
            <a:r>
              <a:rPr lang="en-US" dirty="0"/>
              <a:t>Preparation Phase</a:t>
            </a:r>
          </a:p>
        </p:txBody>
      </p:sp>
      <p:sp>
        <p:nvSpPr>
          <p:cNvPr id="3" name="Inhaltsplatzhalter 2">
            <a:extLst>
              <a:ext uri="{FF2B5EF4-FFF2-40B4-BE49-F238E27FC236}">
                <a16:creationId xmlns:a16="http://schemas.microsoft.com/office/drawing/2014/main" id="{C4D3A26B-5988-81A9-D66E-C4439D827880}"/>
              </a:ext>
            </a:extLst>
          </p:cNvPr>
          <p:cNvSpPr>
            <a:spLocks noGrp="1"/>
          </p:cNvSpPr>
          <p:nvPr>
            <p:ph idx="1"/>
          </p:nvPr>
        </p:nvSpPr>
        <p:spPr/>
        <p:txBody>
          <a:bodyPr/>
          <a:lstStyle/>
          <a:p>
            <a:r>
              <a:rPr lang="en-US" dirty="0"/>
              <a:t>Investor &amp; Entrepreneur Assignment</a:t>
            </a:r>
          </a:p>
          <a:p>
            <a:endParaRPr lang="en-US" dirty="0"/>
          </a:p>
          <a:p>
            <a:r>
              <a:rPr lang="en-US" dirty="0"/>
              <a:t>3-4 Investors (Solo or Group) </a:t>
            </a:r>
          </a:p>
          <a:p>
            <a:endParaRPr lang="en-US" dirty="0"/>
          </a:p>
          <a:p>
            <a:r>
              <a:rPr lang="en-US" dirty="0"/>
              <a:t>Up to 12 Entrepreneurs</a:t>
            </a:r>
          </a:p>
          <a:p>
            <a:endParaRPr lang="en-US" dirty="0"/>
          </a:p>
          <a:p>
            <a:r>
              <a:rPr lang="en-US" dirty="0"/>
              <a:t>Read the handout for your role (Investor or Firm)</a:t>
            </a:r>
          </a:p>
          <a:p>
            <a:endParaRPr lang="en-US" dirty="0"/>
          </a:p>
        </p:txBody>
      </p:sp>
    </p:spTree>
    <p:extLst>
      <p:ext uri="{BB962C8B-B14F-4D97-AF65-F5344CB8AC3E}">
        <p14:creationId xmlns:p14="http://schemas.microsoft.com/office/powerpoint/2010/main" val="479347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8EA0BD-3946-F240-79DF-73FD3B8768B7}"/>
              </a:ext>
            </a:extLst>
          </p:cNvPr>
          <p:cNvSpPr>
            <a:spLocks noGrp="1"/>
          </p:cNvSpPr>
          <p:nvPr>
            <p:ph type="title"/>
          </p:nvPr>
        </p:nvSpPr>
        <p:spPr/>
        <p:txBody>
          <a:bodyPr/>
          <a:lstStyle/>
          <a:p>
            <a:r>
              <a:rPr lang="en-US" dirty="0"/>
              <a:t>Some Math is needed: Investor perspective</a:t>
            </a:r>
          </a:p>
        </p:txBody>
      </p:sp>
      <p:sp>
        <p:nvSpPr>
          <p:cNvPr id="7" name="Inhaltsplatzhalter 6">
            <a:extLst>
              <a:ext uri="{FF2B5EF4-FFF2-40B4-BE49-F238E27FC236}">
                <a16:creationId xmlns:a16="http://schemas.microsoft.com/office/drawing/2014/main" id="{DB76642B-244F-3E48-2B16-6F856F691D01}"/>
              </a:ext>
            </a:extLst>
          </p:cNvPr>
          <p:cNvSpPr>
            <a:spLocks noGrp="1"/>
          </p:cNvSpPr>
          <p:nvPr>
            <p:ph idx="1"/>
          </p:nvPr>
        </p:nvSpPr>
        <p:spPr>
          <a:xfrm>
            <a:off x="450264" y="4178171"/>
            <a:ext cx="11291473" cy="1984119"/>
          </a:xfrm>
        </p:spPr>
        <p:txBody>
          <a:bodyPr/>
          <a:lstStyle/>
          <a:p>
            <a:r>
              <a:rPr lang="en-US" dirty="0"/>
              <a:t>4 Investments were made under different conditions. 2 with equity and 2 with debt.</a:t>
            </a:r>
          </a:p>
          <a:p>
            <a:r>
              <a:rPr lang="en-US" dirty="0"/>
              <a:t>What are the expected and actual profits/losses from the Entrepreneurs 1,2,3,4?</a:t>
            </a:r>
          </a:p>
        </p:txBody>
      </p:sp>
      <p:pic>
        <p:nvPicPr>
          <p:cNvPr id="13" name="Grafik 12">
            <a:extLst>
              <a:ext uri="{FF2B5EF4-FFF2-40B4-BE49-F238E27FC236}">
                <a16:creationId xmlns:a16="http://schemas.microsoft.com/office/drawing/2014/main" id="{FA63DC84-0A89-5DB9-F469-FFAA18447BB0}"/>
              </a:ext>
            </a:extLst>
          </p:cNvPr>
          <p:cNvPicPr>
            <a:picLocks noChangeAspect="1"/>
          </p:cNvPicPr>
          <p:nvPr/>
        </p:nvPicPr>
        <p:blipFill>
          <a:blip r:embed="rId3"/>
          <a:stretch>
            <a:fillRect/>
          </a:stretch>
        </p:blipFill>
        <p:spPr>
          <a:xfrm>
            <a:off x="-81173" y="1124856"/>
            <a:ext cx="12192000" cy="2930684"/>
          </a:xfrm>
          <a:prstGeom prst="rect">
            <a:avLst/>
          </a:prstGeom>
        </p:spPr>
      </p:pic>
    </p:spTree>
    <p:extLst>
      <p:ext uri="{BB962C8B-B14F-4D97-AF65-F5344CB8AC3E}">
        <p14:creationId xmlns:p14="http://schemas.microsoft.com/office/powerpoint/2010/main" val="2357429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31C4BF-BFF6-B272-2CCE-EA0329211628}"/>
              </a:ext>
            </a:extLst>
          </p:cNvPr>
          <p:cNvSpPr>
            <a:spLocks noGrp="1"/>
          </p:cNvSpPr>
          <p:nvPr>
            <p:ph type="title"/>
          </p:nvPr>
        </p:nvSpPr>
        <p:spPr/>
        <p:txBody>
          <a:bodyPr/>
          <a:lstStyle/>
          <a:p>
            <a:r>
              <a:rPr lang="en-US" dirty="0"/>
              <a:t>Setup of the Game</a:t>
            </a:r>
          </a:p>
        </p:txBody>
      </p:sp>
      <p:pic>
        <p:nvPicPr>
          <p:cNvPr id="4" name="Picture 1" descr="A close-up of a document&#10;&#10;Description automatically generated">
            <a:extLst>
              <a:ext uri="{FF2B5EF4-FFF2-40B4-BE49-F238E27FC236}">
                <a16:creationId xmlns:a16="http://schemas.microsoft.com/office/drawing/2014/main" id="{233D2E74-D483-2BA6-643E-ABC8228E094C}"/>
              </a:ext>
            </a:extLst>
          </p:cNvPr>
          <p:cNvPicPr>
            <a:picLocks noChangeAspect="1"/>
          </p:cNvPicPr>
          <p:nvPr/>
        </p:nvPicPr>
        <p:blipFill>
          <a:blip r:embed="rId2"/>
          <a:stretch>
            <a:fillRect/>
          </a:stretch>
        </p:blipFill>
        <p:spPr>
          <a:xfrm>
            <a:off x="525259" y="1630375"/>
            <a:ext cx="10664399" cy="4280571"/>
          </a:xfrm>
          <a:prstGeom prst="rect">
            <a:avLst/>
          </a:prstGeom>
        </p:spPr>
      </p:pic>
      <p:sp>
        <p:nvSpPr>
          <p:cNvPr id="3" name="Rectangle 2">
            <a:extLst>
              <a:ext uri="{FF2B5EF4-FFF2-40B4-BE49-F238E27FC236}">
                <a16:creationId xmlns:a16="http://schemas.microsoft.com/office/drawing/2014/main" id="{13D8E4B6-9D7A-1C73-2F91-A8167CD8F945}"/>
              </a:ext>
            </a:extLst>
          </p:cNvPr>
          <p:cNvSpPr/>
          <p:nvPr/>
        </p:nvSpPr>
        <p:spPr>
          <a:xfrm>
            <a:off x="9761211" y="947055"/>
            <a:ext cx="1428447" cy="16932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2197" dirty="0"/>
          </a:p>
        </p:txBody>
      </p:sp>
    </p:spTree>
    <p:extLst>
      <p:ext uri="{BB962C8B-B14F-4D97-AF65-F5344CB8AC3E}">
        <p14:creationId xmlns:p14="http://schemas.microsoft.com/office/powerpoint/2010/main" val="77986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8E15B6-268B-F85C-604A-D32D3C81DA24}"/>
              </a:ext>
            </a:extLst>
          </p:cNvPr>
          <p:cNvSpPr>
            <a:spLocks noGrp="1"/>
          </p:cNvSpPr>
          <p:nvPr>
            <p:ph type="title"/>
          </p:nvPr>
        </p:nvSpPr>
        <p:spPr/>
        <p:txBody>
          <a:bodyPr/>
          <a:lstStyle/>
          <a:p>
            <a:r>
              <a:rPr lang="en-US" dirty="0"/>
              <a:t>Structure of the Game</a:t>
            </a:r>
          </a:p>
        </p:txBody>
      </p:sp>
      <p:pic>
        <p:nvPicPr>
          <p:cNvPr id="4" name="Picture 1" descr="A diagram of a flowchart&#10;&#10;Description automatically generated">
            <a:extLst>
              <a:ext uri="{FF2B5EF4-FFF2-40B4-BE49-F238E27FC236}">
                <a16:creationId xmlns:a16="http://schemas.microsoft.com/office/drawing/2014/main" id="{C193077C-8DAF-13A3-A134-6D460F85D0F9}"/>
              </a:ext>
            </a:extLst>
          </p:cNvPr>
          <p:cNvPicPr>
            <a:picLocks noChangeAspect="1"/>
          </p:cNvPicPr>
          <p:nvPr/>
        </p:nvPicPr>
        <p:blipFill>
          <a:blip r:embed="rId2"/>
          <a:stretch>
            <a:fillRect/>
          </a:stretch>
        </p:blipFill>
        <p:spPr>
          <a:xfrm>
            <a:off x="5005750" y="287512"/>
            <a:ext cx="6969997" cy="5981051"/>
          </a:xfrm>
          <a:prstGeom prst="rect">
            <a:avLst/>
          </a:prstGeom>
        </p:spPr>
      </p:pic>
    </p:spTree>
    <p:extLst>
      <p:ext uri="{BB962C8B-B14F-4D97-AF65-F5344CB8AC3E}">
        <p14:creationId xmlns:p14="http://schemas.microsoft.com/office/powerpoint/2010/main" val="3838735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9A48-7B39-4934-F181-78B1707C0D9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88EED63-2126-B251-9ABC-BF9FEAF8541C}"/>
              </a:ext>
            </a:extLst>
          </p:cNvPr>
          <p:cNvSpPr>
            <a:spLocks noGrp="1"/>
          </p:cNvSpPr>
          <p:nvPr>
            <p:ph type="title"/>
          </p:nvPr>
        </p:nvSpPr>
        <p:spPr/>
        <p:txBody>
          <a:bodyPr/>
          <a:lstStyle/>
          <a:p>
            <a:r>
              <a:rPr lang="en-US" dirty="0"/>
              <a:t>Decision in the presence of Asymmetric Information</a:t>
            </a:r>
          </a:p>
        </p:txBody>
      </p:sp>
      <p:sp>
        <p:nvSpPr>
          <p:cNvPr id="3" name="Inhaltsplatzhalter 2">
            <a:extLst>
              <a:ext uri="{FF2B5EF4-FFF2-40B4-BE49-F238E27FC236}">
                <a16:creationId xmlns:a16="http://schemas.microsoft.com/office/drawing/2014/main" id="{A7F3994D-82BA-ECC9-3464-C3FA8958EC42}"/>
              </a:ext>
            </a:extLst>
          </p:cNvPr>
          <p:cNvSpPr>
            <a:spLocks noGrp="1"/>
          </p:cNvSpPr>
          <p:nvPr>
            <p:ph idx="1"/>
          </p:nvPr>
        </p:nvSpPr>
        <p:spPr/>
        <p:txBody>
          <a:bodyPr>
            <a:normAutofit lnSpcReduction="10000"/>
          </a:bodyPr>
          <a:lstStyle/>
          <a:p>
            <a:r>
              <a:rPr lang="en-US" sz="1798" dirty="0"/>
              <a:t>RULES of the Game:</a:t>
            </a:r>
          </a:p>
          <a:p>
            <a:r>
              <a:rPr lang="en-US" sz="1798" dirty="0"/>
              <a:t>1.	The game has three periods, and multiple rounds in each period. The instructor will announce when each round starts and ends, and will also announce whether each oil field is success or failure after each round, using a result drawing with the given probability. </a:t>
            </a:r>
          </a:p>
          <a:p>
            <a:r>
              <a:rPr lang="en-US" sz="1798" dirty="0"/>
              <a:t>2.	</a:t>
            </a:r>
            <a:r>
              <a:rPr lang="en-US" sz="1798" b="1" dirty="0"/>
              <a:t>During Period I, all entrepreneurs will have a 50% chance of success</a:t>
            </a:r>
            <a:r>
              <a:rPr lang="en-US" sz="1798" dirty="0"/>
              <a:t>. </a:t>
            </a:r>
          </a:p>
          <a:p>
            <a:r>
              <a:rPr lang="en-US" sz="1798" dirty="0"/>
              <a:t>3.	</a:t>
            </a:r>
            <a:r>
              <a:rPr lang="en-US" sz="1798" b="1" dirty="0"/>
              <a:t>During Period II, each entrepreneur will have a different assigned probability of success, and each needs to truthfully reveal that probability information to the investor. </a:t>
            </a:r>
          </a:p>
          <a:p>
            <a:r>
              <a:rPr lang="en-US" sz="1798" dirty="0"/>
              <a:t>4.	During Period III, each entrepreneur will also have a different assigned probability of success, but you, as an investor, do NOT know that information (i.e., </a:t>
            </a:r>
            <a:r>
              <a:rPr lang="en-US" sz="1798" b="1" dirty="0"/>
              <a:t>entrepreneurs do NOT need to reveal that probability information to you</a:t>
            </a:r>
            <a:r>
              <a:rPr lang="en-US" sz="1798" dirty="0"/>
              <a:t>). But what you know is that the </a:t>
            </a:r>
            <a:r>
              <a:rPr lang="en-US" sz="1798" b="1" dirty="0"/>
              <a:t>average chance of success</a:t>
            </a:r>
            <a:r>
              <a:rPr lang="en-US" sz="1798" dirty="0"/>
              <a:t> for the whole group of entrepreneurs </a:t>
            </a:r>
            <a:r>
              <a:rPr lang="en-US" sz="1798" b="1" dirty="0"/>
              <a:t>is close to 50%, </a:t>
            </a:r>
            <a:r>
              <a:rPr lang="en-US" sz="1798" dirty="0"/>
              <a:t>with a possible range between 30% and 80%.</a:t>
            </a:r>
          </a:p>
          <a:p>
            <a:r>
              <a:rPr lang="en-US" sz="1798" dirty="0"/>
              <a:t>5.	You MUST report the transaction details to the instructor whenever a round is finished. </a:t>
            </a:r>
          </a:p>
          <a:p>
            <a:r>
              <a:rPr lang="en-US" sz="1798" dirty="0"/>
              <a:t>6.	You can make a maximum number of 3 deals in each round with different (not the same) entrepreneurs, through negotiations with the entrepreneurs, but you are NOT required to make any deals in each round.</a:t>
            </a:r>
          </a:p>
        </p:txBody>
      </p:sp>
    </p:spTree>
    <p:extLst>
      <p:ext uri="{BB962C8B-B14F-4D97-AF65-F5344CB8AC3E}">
        <p14:creationId xmlns:p14="http://schemas.microsoft.com/office/powerpoint/2010/main" val="3164041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A05E45-A088-4B4F-BEA8-CD7FCE2679B7}"/>
              </a:ext>
            </a:extLst>
          </p:cNvPr>
          <p:cNvSpPr>
            <a:spLocks noGrp="1"/>
          </p:cNvSpPr>
          <p:nvPr>
            <p:ph type="title"/>
          </p:nvPr>
        </p:nvSpPr>
        <p:spPr/>
        <p:txBody>
          <a:bodyPr/>
          <a:lstStyle/>
          <a:p>
            <a:r>
              <a:rPr lang="en-US" dirty="0"/>
              <a:t>Results and Reflection of the Game</a:t>
            </a:r>
          </a:p>
        </p:txBody>
      </p:sp>
      <p:sp>
        <p:nvSpPr>
          <p:cNvPr id="3" name="Inhaltsplatzhalter 2">
            <a:extLst>
              <a:ext uri="{FF2B5EF4-FFF2-40B4-BE49-F238E27FC236}">
                <a16:creationId xmlns:a16="http://schemas.microsoft.com/office/drawing/2014/main" id="{0A718849-455E-464D-5382-AC1048A0AE36}"/>
              </a:ext>
            </a:extLst>
          </p:cNvPr>
          <p:cNvSpPr>
            <a:spLocks noGrp="1"/>
          </p:cNvSpPr>
          <p:nvPr>
            <p:ph idx="1"/>
          </p:nvPr>
        </p:nvSpPr>
        <p:spPr/>
        <p:txBody>
          <a:bodyPr/>
          <a:lstStyle/>
          <a:p>
            <a:r>
              <a:rPr lang="en-US" dirty="0"/>
              <a:t>Prepare and Present your results from the Game</a:t>
            </a:r>
          </a:p>
        </p:txBody>
      </p:sp>
    </p:spTree>
    <p:extLst>
      <p:ext uri="{BB962C8B-B14F-4D97-AF65-F5344CB8AC3E}">
        <p14:creationId xmlns:p14="http://schemas.microsoft.com/office/powerpoint/2010/main" val="1152900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5B7A98-CDFA-3600-141A-9D04F315C7C5}"/>
              </a:ext>
            </a:extLst>
          </p:cNvPr>
          <p:cNvSpPr>
            <a:spLocks noGrp="1"/>
          </p:cNvSpPr>
          <p:nvPr>
            <p:ph type="title"/>
          </p:nvPr>
        </p:nvSpPr>
        <p:spPr/>
        <p:txBody>
          <a:bodyPr/>
          <a:lstStyle/>
          <a:p>
            <a:r>
              <a:rPr lang="de-DE" dirty="0" err="1"/>
              <a:t>Entrepreneurial</a:t>
            </a:r>
            <a:r>
              <a:rPr lang="de-DE" dirty="0"/>
              <a:t> Finance Research Areas</a:t>
            </a:r>
            <a:endParaRPr lang="de-CH" dirty="0"/>
          </a:p>
        </p:txBody>
      </p:sp>
      <p:sp>
        <p:nvSpPr>
          <p:cNvPr id="3" name="Inhaltsplatzhalter 2">
            <a:extLst>
              <a:ext uri="{FF2B5EF4-FFF2-40B4-BE49-F238E27FC236}">
                <a16:creationId xmlns:a16="http://schemas.microsoft.com/office/drawing/2014/main" id="{1CFAC0B8-6DAF-CF70-FB9A-843AAB0874CF}"/>
              </a:ext>
            </a:extLst>
          </p:cNvPr>
          <p:cNvSpPr>
            <a:spLocks noGrp="1"/>
          </p:cNvSpPr>
          <p:nvPr>
            <p:ph idx="1"/>
          </p:nvPr>
        </p:nvSpPr>
        <p:spPr/>
        <p:txBody>
          <a:bodyPr/>
          <a:lstStyle/>
          <a:p>
            <a:r>
              <a:rPr lang="de-DE" dirty="0"/>
              <a:t>Information Systems</a:t>
            </a:r>
          </a:p>
          <a:p>
            <a:r>
              <a:rPr lang="de-DE" dirty="0"/>
              <a:t>JBV</a:t>
            </a:r>
            <a:endParaRPr lang="de-CH" dirty="0"/>
          </a:p>
        </p:txBody>
      </p:sp>
    </p:spTree>
    <p:extLst>
      <p:ext uri="{BB962C8B-B14F-4D97-AF65-F5344CB8AC3E}">
        <p14:creationId xmlns:p14="http://schemas.microsoft.com/office/powerpoint/2010/main" val="335066516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529</Words>
  <Application>Microsoft Office PowerPoint</Application>
  <PresentationFormat>Breitbild</PresentationFormat>
  <Paragraphs>60</Paragraphs>
  <Slides>13</Slides>
  <Notes>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13</vt:i4>
      </vt:variant>
    </vt:vector>
  </HeadingPairs>
  <TitlesOfParts>
    <vt:vector size="19" baseType="lpstr">
      <vt:lpstr>Aptos</vt:lpstr>
      <vt:lpstr>Aptos Display</vt:lpstr>
      <vt:lpstr>Arial</vt:lpstr>
      <vt:lpstr>Lucida Sans</vt:lpstr>
      <vt:lpstr>Times New Roman</vt:lpstr>
      <vt:lpstr>Office</vt:lpstr>
      <vt:lpstr>Entrepreneurial Finance</vt:lpstr>
      <vt:lpstr>Problems when financing Start-Ups</vt:lpstr>
      <vt:lpstr>The Pecking order theory: Sources of Capital</vt:lpstr>
      <vt:lpstr>What’s the signal of issuing debt or equity to an investor?</vt:lpstr>
      <vt:lpstr>Let’s play a game…</vt:lpstr>
      <vt:lpstr>Decision in the presence of Asymmetric Information</vt:lpstr>
      <vt:lpstr>Preparation Phase</vt:lpstr>
      <vt:lpstr>Some Math is needed: Investor perspective</vt:lpstr>
      <vt:lpstr>Setup of the Game</vt:lpstr>
      <vt:lpstr>Structure of the Game</vt:lpstr>
      <vt:lpstr>Decision in the presence of Asymmetric Information</vt:lpstr>
      <vt:lpstr>Results and Reflection of the Game</vt:lpstr>
      <vt:lpstr>Entrepreneurial Finance Research Areas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Thies Ferdinand</dc:creator>
  <cp:lastModifiedBy>Thies Ferdinand</cp:lastModifiedBy>
  <cp:revision>3</cp:revision>
  <dcterms:created xsi:type="dcterms:W3CDTF">2025-12-18T11:17:53Z</dcterms:created>
  <dcterms:modified xsi:type="dcterms:W3CDTF">2025-12-18T11:30:30Z</dcterms:modified>
</cp:coreProperties>
</file>